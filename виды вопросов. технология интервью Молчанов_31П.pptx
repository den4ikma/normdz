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1"/>
  </p:sldMasterIdLst>
  <p:sldIdLst>
    <p:sldId id="265" r:id="rId2"/>
    <p:sldId id="259" r:id="rId3"/>
    <p:sldId id="266" r:id="rId4"/>
    <p:sldId id="262" r:id="rId5"/>
    <p:sldId id="267" r:id="rId6"/>
    <p:sldId id="257" r:id="rId7"/>
    <p:sldId id="258" r:id="rId8"/>
    <p:sldId id="268" r:id="rId9"/>
    <p:sldId id="260" r:id="rId10"/>
    <p:sldId id="261" r:id="rId11"/>
    <p:sldId id="269" r:id="rId12"/>
    <p:sldId id="270" r:id="rId13"/>
    <p:sldId id="263" r:id="rId14"/>
    <p:sldId id="264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20498A-7F9D-B7AD-EB1A-EB8462189748}" v="513" dt="2025-12-21T21:13:59.945"/>
    <p1510:client id="{FEA511D1-C78F-C8A8-ADF9-8FB81815C68F}" v="1957" dt="2025-12-21T23:50:27.2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02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012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1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61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0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30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487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91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64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527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35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158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6D6B69-30FC-64D5-EA45-BFD1A5A9BC31}"/>
              </a:ext>
            </a:extLst>
          </p:cNvPr>
          <p:cNvSpPr txBox="1"/>
          <p:nvPr/>
        </p:nvSpPr>
        <p:spPr>
          <a:xfrm>
            <a:off x="2673568" y="354724"/>
            <a:ext cx="747942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cs typeface="Times New Roman"/>
              </a:rPr>
              <a:t>Автономная некоммерческая организация профессионального образования </a:t>
            </a:r>
            <a:endParaRPr lang="ru-RU">
              <a:latin typeface="Times New Roman"/>
              <a:ea typeface="+mn-lt"/>
              <a:cs typeface="Times New Roman"/>
            </a:endParaRPr>
          </a:p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«Многопрофильный колледж №1»</a:t>
            </a:r>
            <a:endParaRPr lang="ru-RU">
              <a:latin typeface="Times New Roman"/>
              <a:ea typeface="+mn-lt"/>
              <a:cs typeface="+mn-lt"/>
            </a:endParaRPr>
          </a:p>
          <a:p>
            <a:pPr algn="ctr"/>
            <a:endParaRPr lang="ru-RU" dirty="0">
              <a:latin typeface="Times New Roman"/>
              <a:cs typeface="Times New Roman"/>
            </a:endParaRPr>
          </a:p>
          <a:p>
            <a:pPr algn="ctr"/>
            <a:r>
              <a:rPr lang="ru-RU" dirty="0">
                <a:latin typeface="Times New Roman"/>
                <a:cs typeface="Times New Roman"/>
              </a:rPr>
              <a:t>Презентация </a:t>
            </a:r>
          </a:p>
          <a:p>
            <a:pPr algn="ctr"/>
            <a:endParaRPr lang="ru-RU" dirty="0">
              <a:latin typeface="Times New Roman"/>
              <a:cs typeface="Times New Roman"/>
            </a:endParaRPr>
          </a:p>
          <a:p>
            <a:pPr algn="ctr"/>
            <a:r>
              <a:rPr lang="ru-RU" dirty="0">
                <a:latin typeface="Times New Roman"/>
                <a:cs typeface="Times New Roman"/>
              </a:rPr>
              <a:t>На тему: виды вопросов. технология интервью</a:t>
            </a:r>
          </a:p>
          <a:p>
            <a:pPr algn="ctr"/>
            <a:endParaRPr lang="ru-RU" dirty="0">
              <a:latin typeface="Times New Roman"/>
              <a:cs typeface="Times New Roman"/>
            </a:endParaRPr>
          </a:p>
          <a:p>
            <a:pPr algn="ctr"/>
            <a:r>
              <a:rPr lang="ru-RU" dirty="0">
                <a:latin typeface="Times New Roman"/>
                <a:cs typeface="Times New Roman"/>
              </a:rPr>
              <a:t>По дисциплине: психология общения</a:t>
            </a:r>
          </a:p>
          <a:p>
            <a:pPr algn="ctr"/>
            <a:endParaRPr lang="ru-RU" dirty="0">
              <a:latin typeface="Times New Roman"/>
              <a:cs typeface="Times New Roman"/>
            </a:endParaRPr>
          </a:p>
          <a:p>
            <a:pPr algn="ctr"/>
            <a:r>
              <a:rPr lang="ru-RU" dirty="0">
                <a:latin typeface="Times New Roman"/>
                <a:cs typeface="Times New Roman"/>
              </a:rPr>
              <a:t>Специальность: </a:t>
            </a:r>
            <a:r>
              <a:rPr lang="ru-RU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09.02.07 Информационные системы и программирование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964F9D-96EB-2E8D-B0FA-77F328FF2309}"/>
              </a:ext>
            </a:extLst>
          </p:cNvPr>
          <p:cNvSpPr txBox="1"/>
          <p:nvPr/>
        </p:nvSpPr>
        <p:spPr>
          <a:xfrm>
            <a:off x="8119241" y="4105603"/>
            <a:ext cx="29336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dirty="0">
                <a:latin typeface="Times New Roman"/>
                <a:cs typeface="Times New Roman"/>
              </a:rPr>
              <a:t>Выполнил</a:t>
            </a:r>
          </a:p>
          <a:p>
            <a:r>
              <a:rPr lang="ru-RU" dirty="0">
                <a:latin typeface="Times New Roman"/>
                <a:cs typeface="Times New Roman"/>
              </a:rPr>
              <a:t>Обучающийся группы 31П</a:t>
            </a:r>
          </a:p>
          <a:p>
            <a:r>
              <a:rPr lang="ru-RU" dirty="0">
                <a:latin typeface="Times New Roman"/>
                <a:cs typeface="Times New Roman"/>
              </a:rPr>
              <a:t>Очной формы обучения</a:t>
            </a:r>
          </a:p>
          <a:p>
            <a:r>
              <a:rPr lang="ru-RU" dirty="0">
                <a:latin typeface="Times New Roman"/>
                <a:cs typeface="Times New Roman"/>
              </a:rPr>
              <a:t>Молчанов Д.А.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866F3D-0520-934B-988F-47862307D67A}"/>
              </a:ext>
            </a:extLst>
          </p:cNvPr>
          <p:cNvSpPr txBox="1"/>
          <p:nvPr/>
        </p:nvSpPr>
        <p:spPr>
          <a:xfrm>
            <a:off x="8119241" y="5307724"/>
            <a:ext cx="315047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/>
                <a:cs typeface="Times New Roman"/>
              </a:rPr>
              <a:t>Преподаватель по дисциплине</a:t>
            </a:r>
          </a:p>
          <a:p>
            <a:r>
              <a:rPr lang="ru-RU" dirty="0">
                <a:latin typeface="Times New Roman"/>
                <a:cs typeface="Times New Roman"/>
              </a:rPr>
              <a:t>Образовательной программы</a:t>
            </a:r>
          </a:p>
          <a:p>
            <a:r>
              <a:rPr lang="ru-RU" dirty="0" err="1">
                <a:latin typeface="Times New Roman"/>
                <a:cs typeface="Times New Roman"/>
              </a:rPr>
              <a:t>Рабчук</a:t>
            </a:r>
            <a:r>
              <a:rPr lang="ru-RU" dirty="0">
                <a:latin typeface="Times New Roman"/>
                <a:cs typeface="Times New Roman"/>
              </a:rPr>
              <a:t> Н.З.</a:t>
            </a:r>
          </a:p>
        </p:txBody>
      </p:sp>
    </p:spTree>
    <p:extLst>
      <p:ext uri="{BB962C8B-B14F-4D97-AF65-F5344CB8AC3E}">
        <p14:creationId xmlns:p14="http://schemas.microsoft.com/office/powerpoint/2010/main" val="1037420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19D00D-FB56-B589-E102-C377CA26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26" y="371694"/>
            <a:ext cx="10515600" cy="964270"/>
          </a:xfrm>
        </p:spPr>
        <p:txBody>
          <a:bodyPr>
            <a:normAutofit/>
          </a:bodyPr>
          <a:lstStyle/>
          <a:p>
            <a:r>
              <a:rPr lang="ru-RU" b="1" dirty="0"/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46BC7F-676B-A7CC-775F-1B9A7D21F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992" y="1714300"/>
            <a:ext cx="10653579" cy="4593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Интервью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- ключевой инструмент HR для подбора кадров и сбора данных, но 40% ошибок найма связаны с плохими вопросами. Правильная технология снижает риски и повышает качество информации. Тема актуальна для HR, журналистов, менеджеров.</a:t>
            </a:r>
          </a:p>
          <a:p>
            <a:pPr marL="285750" indent="-285750"/>
            <a:r>
              <a:rPr lang="ru-RU" sz="1800" b="1" i="1" dirty="0">
                <a:latin typeface="Times New Roman"/>
                <a:ea typeface="+mn-lt"/>
                <a:cs typeface="+mn-lt"/>
              </a:rPr>
              <a:t>Правило первое: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задавайте вопрос ради ответа, не пытайтесь удивить своим вопросом собеседника</a:t>
            </a:r>
            <a:endParaRPr lang="ru-RU" sz="1800">
              <a:latin typeface="Times New Roman"/>
              <a:ea typeface="+mn-lt"/>
              <a:cs typeface="Times New Roman"/>
            </a:endParaRPr>
          </a:p>
          <a:p>
            <a:pPr marL="285750" indent="-285750"/>
            <a:r>
              <a:rPr lang="ru-RU" sz="1800" b="1" i="1" dirty="0">
                <a:latin typeface="Times New Roman"/>
                <a:ea typeface="+mn-lt"/>
                <a:cs typeface="+mn-lt"/>
              </a:rPr>
              <a:t>Правило второе: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задавайте вопросы так, чтобы ваш собеседник стал думать</a:t>
            </a:r>
            <a:endParaRPr lang="ru-RU" sz="1800">
              <a:latin typeface="Times New Roman"/>
              <a:ea typeface="+mn-lt"/>
              <a:cs typeface="Times New Roman"/>
            </a:endParaRPr>
          </a:p>
          <a:p>
            <a:pPr marL="285750" indent="-285750"/>
            <a:r>
              <a:rPr lang="ru-RU" sz="1800" b="1" i="1" dirty="0">
                <a:latin typeface="Times New Roman"/>
                <a:ea typeface="+mn-lt"/>
                <a:cs typeface="+mn-lt"/>
              </a:rPr>
              <a:t>Правило третье: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формулируйте вопрос таким образом, чтобы вы получили прямой и полный ответ</a:t>
            </a:r>
            <a:endParaRPr lang="ru-RU" sz="1800">
              <a:latin typeface="Times New Roman"/>
              <a:ea typeface="+mn-lt"/>
              <a:cs typeface="Times New Roman"/>
            </a:endParaRPr>
          </a:p>
          <a:p>
            <a:pPr marL="285750" indent="-285750"/>
            <a:r>
              <a:rPr lang="ru-RU" sz="1800" b="1" i="1" dirty="0">
                <a:latin typeface="Times New Roman"/>
                <a:ea typeface="+mn-lt"/>
                <a:cs typeface="+mn-lt"/>
              </a:rPr>
              <a:t>Правило четвертое: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будьте готовы к тому, что ваш собеседник может произнести заранее заготовленную речь. Добивайтесь ответа на свой вопрос</a:t>
            </a:r>
            <a:endParaRPr lang="ru-RU" sz="1800" dirty="0">
              <a:latin typeface="Times New Roman"/>
              <a:cs typeface="Times New Roman"/>
            </a:endParaRPr>
          </a:p>
        </p:txBody>
      </p:sp>
      <p:pic>
        <p:nvPicPr>
          <p:cNvPr id="4" name="Рисунок 3" descr="Изображение выглядит как одежда, человек, стул, мебел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7429B85-E008-444B-139F-2273377E5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629" y="4007068"/>
            <a:ext cx="4366948" cy="285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403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DB924-526F-C6AC-9D2F-A45C7A5AD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80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/>
                <a:cs typeface="Times New Roman"/>
              </a:rPr>
              <a:t>Виды интервью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AA4C02-84EA-5EE8-1488-438C6BF71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4125"/>
            <a:ext cx="10515600" cy="525785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Times New Roman"/>
                <a:cs typeface="Times New Roman"/>
              </a:rPr>
              <a:t> </a:t>
            </a:r>
            <a:r>
              <a:rPr lang="ru-RU" sz="1800" b="1" i="1" dirty="0">
                <a:latin typeface="Times New Roman"/>
                <a:cs typeface="Times New Roman"/>
              </a:rPr>
              <a:t>Информационное, в т.ч. оперативное</a:t>
            </a:r>
            <a:endParaRPr lang="ru-RU" b="1" i="1"/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cs typeface="Times New Roman"/>
              </a:rPr>
              <a:t>Наиболее ходовой вид, нацеленный на сбор материала для новостей. Ключевые вопросы для типичного информационного интервью: </a:t>
            </a:r>
            <a:r>
              <a:rPr lang="ru-RU" sz="1800" i="1" dirty="0">
                <a:latin typeface="Times New Roman"/>
                <a:cs typeface="Times New Roman"/>
              </a:rPr>
              <a:t>кто? что? где? когда? почему? зачем?</a:t>
            </a:r>
            <a:endParaRPr lang="en-US" sz="1800" i="1" dirty="0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Times New Roman"/>
                <a:cs typeface="Times New Roman"/>
              </a:rPr>
              <a:t> </a:t>
            </a:r>
            <a:r>
              <a:rPr lang="ru-RU" sz="1800" b="1" i="1" dirty="0">
                <a:latin typeface="Times New Roman"/>
                <a:cs typeface="Times New Roman"/>
              </a:rPr>
              <a:t>Блиц-опрос</a:t>
            </a:r>
            <a:r>
              <a:rPr lang="ru-RU" sz="1800" dirty="0">
                <a:latin typeface="Times New Roman"/>
                <a:cs typeface="Times New Roman"/>
              </a:rPr>
              <a:t> или </a:t>
            </a:r>
            <a:r>
              <a:rPr lang="ru-RU" sz="1800" b="1" i="1" dirty="0">
                <a:latin typeface="Times New Roman"/>
                <a:cs typeface="Times New Roman"/>
              </a:rPr>
              <a:t>опрос на улице</a:t>
            </a:r>
            <a:endParaRPr lang="en-US" sz="1800" b="1" i="1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cs typeface="Times New Roman"/>
              </a:rPr>
              <a:t>Характерная особенность таких интервью - постановка одинаковых, фиксированных вопросов как можно большему числу респондентов, представителям одной или, наоборот, разных социальных групп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Times New Roman"/>
                <a:cs typeface="Times New Roman"/>
              </a:rPr>
              <a:t> </a:t>
            </a:r>
            <a:r>
              <a:rPr lang="ru-RU" sz="1800" b="1" i="1" dirty="0">
                <a:latin typeface="Times New Roman"/>
                <a:cs typeface="Times New Roman"/>
              </a:rPr>
              <a:t>Пресс-конференция</a:t>
            </a:r>
            <a:endParaRPr lang="ru-RU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dirty="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Мероприятие</a:t>
            </a:r>
            <a:r>
              <a:rPr lang="ru-RU" sz="1800" dirty="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для СМИ, проводимое в случаях, когда есть общественно значимая новость или любой другой повод, и организация или отдельная личность, непосредственно связанные с этой новостью или поводом, желают дать свои комментарии по этому вопросу</a:t>
            </a:r>
            <a:endParaRPr lang="ru-RU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 </a:t>
            </a:r>
            <a:r>
              <a:rPr lang="ru-RU" sz="1800" b="1" i="1" dirty="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Круглый стол, полемический диалог и т.д.</a:t>
            </a:r>
          </a:p>
          <a:p>
            <a:pPr>
              <a:lnSpc>
                <a:spcPct val="100000"/>
              </a:lnSpc>
            </a:pPr>
            <a:r>
              <a:rPr lang="ru-RU" sz="1800" dirty="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Все участники имеют равные права голоса, цель такого мероприятия - предоставить возможность высказать свою точку зрения</a:t>
            </a:r>
            <a:endParaRPr lang="ru-RU" sz="1800" dirty="0">
              <a:solidFill>
                <a:srgbClr val="202122"/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843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F134B1-21A6-629D-6618-A342BDA88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latin typeface="Times New Roman"/>
                <a:ea typeface="+mj-lt"/>
                <a:cs typeface="+mj-lt"/>
              </a:rPr>
              <a:t>Виды вопросов в интервью</a:t>
            </a:r>
            <a:endParaRPr lang="ru-RU" sz="3600" b="1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3A145E-1D51-2D9A-1819-16783DFBB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2194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>
                <a:ea typeface="+mn-lt"/>
                <a:cs typeface="+mn-lt"/>
              </a:rPr>
              <a:t> </a:t>
            </a:r>
            <a:r>
              <a:rPr lang="ru-RU" sz="1800" b="1" i="1" dirty="0">
                <a:latin typeface="Times New Roman"/>
                <a:ea typeface="+mn-lt"/>
                <a:cs typeface="+mn-lt"/>
              </a:rPr>
              <a:t>Открытые</a:t>
            </a:r>
            <a:endParaRPr lang="ru-RU" dirty="0">
              <a:latin typeface="Aptos" panose="020B0004020202020204"/>
              <a:ea typeface="+mn-lt"/>
              <a:cs typeface="+mn-lt"/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Носят общий характер </a:t>
            </a:r>
            <a:endParaRPr lang="ru-RU" dirty="0">
              <a:latin typeface="Aptos" panose="020B0004020202020204"/>
              <a:ea typeface="+mn-lt"/>
              <a:cs typeface="+mn-lt"/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Побуждают собеседника отвечать, ни в чем его не ограничивая</a:t>
            </a:r>
            <a:endParaRPr lang="ru-RU" dirty="0">
              <a:latin typeface="Aptos" panose="020B0004020202020204"/>
              <a:ea typeface="+mn-lt"/>
              <a:cs typeface="+mn-lt"/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Дают возможность добровольно передавать информацию</a:t>
            </a:r>
            <a:endParaRPr lang="ru-RU" dirty="0">
              <a:latin typeface="Aptos"/>
              <a:ea typeface="+mn-lt"/>
              <a:cs typeface="+mn-lt"/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Стимулируют собеседника к размышлениям</a:t>
            </a:r>
            <a:endParaRPr lang="ru-RU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ru-RU" sz="1800" dirty="0">
                <a:latin typeface="Times New Roman"/>
                <a:ea typeface="+mn-lt"/>
                <a:cs typeface="+mn-lt"/>
              </a:rPr>
              <a:t> Ставят журналиста перед необходимостью внимательно слушать и наблюдать  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ru-RU" sz="1800" dirty="0">
                <a:latin typeface="Times New Roman"/>
                <a:ea typeface="+mn-lt"/>
                <a:cs typeface="+mn-lt"/>
              </a:rPr>
              <a:t> Могут спровоцировать длинный ответ, сбивчивый и невнятный  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ru-RU" sz="1800" dirty="0">
                <a:latin typeface="Times New Roman"/>
                <a:ea typeface="+mn-lt"/>
                <a:cs typeface="+mn-lt"/>
              </a:rPr>
              <a:t> Могут смутить собеседника, не привыкшего отвечать на общие вопросы </a:t>
            </a:r>
            <a:endParaRPr lang="ru-RU" sz="1800">
              <a:latin typeface="Times New Roman"/>
              <a:cs typeface="Times New Roman"/>
            </a:endParaRPr>
          </a:p>
        </p:txBody>
      </p:sp>
      <p:pic>
        <p:nvPicPr>
          <p:cNvPr id="7" name="Рисунок 6" descr="Изображение выглядит как одежда, человек, обувь, дос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944407E-83CF-BE52-E464-394F207D35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50" t="-212" r="22792" b="212"/>
          <a:stretch>
            <a:fillRect/>
          </a:stretch>
        </p:blipFill>
        <p:spPr>
          <a:xfrm>
            <a:off x="8559361" y="492673"/>
            <a:ext cx="3221819" cy="335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95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BECCEC-ECB2-774F-E749-FF2D4E44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latin typeface="Times New Roman"/>
                <a:cs typeface="Times New Roman"/>
              </a:rPr>
              <a:t>Виды вопросов в интервью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4E623F-997A-D243-9E61-E8E19B646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b="1" i="1" dirty="0">
                <a:latin typeface="Times New Roman"/>
                <a:cs typeface="Times New Roman"/>
              </a:rPr>
              <a:t>Закрытые</a:t>
            </a:r>
            <a:r>
              <a:rPr lang="ru-RU" sz="1800" b="1" dirty="0">
                <a:latin typeface="Times New Roman"/>
                <a:cs typeface="Times New Roman"/>
              </a:rPr>
              <a:t> </a:t>
            </a:r>
            <a:endParaRPr lang="ru-RU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,Sans-Serif" panose="020B0604020202020204" pitchFamily="34" charset="0"/>
            </a:pPr>
            <a:r>
              <a:rPr lang="ru-RU" sz="1800" dirty="0">
                <a:latin typeface="Times New Roman"/>
                <a:cs typeface="Times New Roman"/>
              </a:rPr>
              <a:t>Требуют утвердительного или отрицательного ответа 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,Sans-Serif" panose="020B0604020202020204" pitchFamily="34" charset="0"/>
            </a:pPr>
            <a:r>
              <a:rPr lang="ru-RU" sz="1800" dirty="0">
                <a:latin typeface="Times New Roman"/>
                <a:cs typeface="Times New Roman"/>
              </a:rPr>
              <a:t>Легко задавать 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,Sans-Serif" panose="020B0604020202020204" pitchFamily="34" charset="0"/>
            </a:pPr>
            <a:r>
              <a:rPr lang="ru-RU" sz="1800" dirty="0">
                <a:latin typeface="Times New Roman"/>
                <a:cs typeface="Times New Roman"/>
              </a:rPr>
              <a:t>Журналист контролирует ход беседы 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,Sans-Serif" panose="020B0604020202020204" pitchFamily="34" charset="0"/>
            </a:pPr>
            <a:r>
              <a:rPr lang="ru-RU" sz="1800" dirty="0">
                <a:latin typeface="Times New Roman"/>
                <a:cs typeface="Times New Roman"/>
              </a:rPr>
              <a:t>Позволяют получить конкретную информацию 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,Sans-Serif" panose="020B0604020202020204" pitchFamily="34" charset="0"/>
            </a:pPr>
            <a:r>
              <a:rPr lang="ru-RU" sz="1800" dirty="0">
                <a:latin typeface="Times New Roman"/>
                <a:cs typeface="Times New Roman"/>
              </a:rPr>
              <a:t>Предполагают быструю реакцию и экономят время </a:t>
            </a:r>
          </a:p>
          <a:p>
            <a:pPr>
              <a:lnSpc>
                <a:spcPct val="100000"/>
              </a:lnSpc>
              <a:buFont typeface="Arial,Sans-Serif" panose="020B0604020202020204" pitchFamily="34" charset="0"/>
            </a:pPr>
            <a:r>
              <a:rPr lang="ru-RU" sz="1800" dirty="0">
                <a:latin typeface="Times New Roman"/>
                <a:cs typeface="Times New Roman"/>
              </a:rPr>
              <a:t>«Разогревают» собеседника 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,Sans-Serif" panose="020B0604020202020204" pitchFamily="34" charset="0"/>
            </a:pPr>
            <a:r>
              <a:rPr lang="ru-RU" sz="1800" dirty="0">
                <a:latin typeface="Times New Roman"/>
                <a:cs typeface="Times New Roman"/>
              </a:rPr>
              <a:t>Не стимулируют развития диалога</a:t>
            </a:r>
          </a:p>
          <a:p>
            <a:endParaRPr lang="ru-RU" dirty="0"/>
          </a:p>
        </p:txBody>
      </p:sp>
      <p:pic>
        <p:nvPicPr>
          <p:cNvPr id="4" name="Рисунок 3" descr="Изображение выглядит как одежда, мультфильм, человек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299C04-7956-3397-99C4-7AC914F71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579" y="1690686"/>
            <a:ext cx="4096170" cy="434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87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315185-6A8B-DD48-49DE-2A95AA1A7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latin typeface="Times New Roman"/>
                <a:ea typeface="+mj-lt"/>
                <a:cs typeface="+mj-lt"/>
              </a:rPr>
              <a:t>Основные вопросы: о чем спрашивать?</a:t>
            </a:r>
            <a:endParaRPr lang="ru-RU" sz="3600" b="1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D74991-B080-2F5F-7556-3C33E4A2F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Кто?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- запрашивается информация об субъекте события, его участниках и действующих лицах: </a:t>
            </a:r>
            <a:r>
              <a:rPr lang="ru-RU" sz="1800" i="1" dirty="0">
                <a:latin typeface="Times New Roman"/>
                <a:ea typeface="+mn-lt"/>
                <a:cs typeface="+mn-lt"/>
              </a:rPr>
              <a:t>Кто присутствовал?.. Кому пришла в голову мысль?.. Кого не устроила?.. </a:t>
            </a:r>
            <a:endParaRPr lang="ru-RU"/>
          </a:p>
          <a:p>
            <a:pPr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Что? Что произошло?</a:t>
            </a:r>
            <a:r>
              <a:rPr lang="ru-RU" sz="1800" i="1" dirty="0">
                <a:latin typeface="Times New Roman"/>
                <a:ea typeface="+mn-lt"/>
                <a:cs typeface="+mn-lt"/>
              </a:rPr>
              <a:t> </a:t>
            </a:r>
            <a:r>
              <a:rPr lang="ru-RU" sz="1800" dirty="0">
                <a:latin typeface="Times New Roman"/>
                <a:ea typeface="+mn-lt"/>
                <a:cs typeface="+mn-lt"/>
              </a:rPr>
              <a:t>- выясняется, что случилось с объектом сообщения: </a:t>
            </a:r>
            <a:r>
              <a:rPr lang="ru-RU" sz="1800" i="1" dirty="0">
                <a:latin typeface="Times New Roman"/>
                <a:ea typeface="+mn-lt"/>
                <a:cs typeface="+mn-lt"/>
              </a:rPr>
              <a:t>Что произошло с…? Что вы сделали, когда…?</a:t>
            </a:r>
          </a:p>
          <a:p>
            <a:pPr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Где? Куда? Откуда?</a:t>
            </a:r>
            <a:r>
              <a:rPr lang="ru-RU" sz="1800" dirty="0">
                <a:latin typeface="Times New Roman"/>
                <a:ea typeface="+mn-lt"/>
                <a:cs typeface="+mn-lt"/>
              </a:rPr>
              <a:t> - вопрос об обстоятельстве места произошедшего: </a:t>
            </a:r>
            <a:r>
              <a:rPr lang="ru-RU" sz="1800" i="1" dirty="0">
                <a:latin typeface="Times New Roman"/>
                <a:ea typeface="+mn-lt"/>
                <a:cs typeface="+mn-lt"/>
              </a:rPr>
              <a:t>Где произошло?.. Откуда прилетел самолет?..</a:t>
            </a:r>
          </a:p>
          <a:p>
            <a:pPr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Когда? С каких пор и до каких пор? </a:t>
            </a:r>
            <a:r>
              <a:rPr lang="ru-RU" sz="1800" dirty="0">
                <a:latin typeface="Times New Roman"/>
                <a:ea typeface="+mn-lt"/>
                <a:cs typeface="+mn-lt"/>
              </a:rPr>
              <a:t>- вопрос об обстоятельствах времени:</a:t>
            </a:r>
            <a:r>
              <a:rPr lang="ru-RU" sz="1800" i="1" dirty="0">
                <a:latin typeface="Times New Roman"/>
                <a:ea typeface="+mn-lt"/>
                <a:cs typeface="+mn-lt"/>
              </a:rPr>
              <a:t> С каких пор вы перестали доверять помощникам?..</a:t>
            </a:r>
          </a:p>
          <a:p>
            <a:pPr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Как? Как это произошло?</a:t>
            </a:r>
            <a:r>
              <a:rPr lang="ru-RU" sz="1800" dirty="0">
                <a:latin typeface="Times New Roman"/>
                <a:ea typeface="+mn-lt"/>
                <a:cs typeface="+mn-lt"/>
              </a:rPr>
              <a:t> - вопрос об обстоятельствах действия или события: </a:t>
            </a:r>
            <a:r>
              <a:rPr lang="ru-RU" sz="1800" i="1" dirty="0">
                <a:latin typeface="Times New Roman"/>
                <a:ea typeface="+mn-lt"/>
                <a:cs typeface="+mn-lt"/>
              </a:rPr>
              <a:t>Как получилось, что об аварии узнали только на следующий день?</a:t>
            </a:r>
          </a:p>
          <a:p>
            <a:pPr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Зачем (с какой целью)? Почему (по какой причине)?</a:t>
            </a:r>
            <a:r>
              <a:rPr lang="ru-RU" sz="1800" dirty="0">
                <a:latin typeface="Times New Roman"/>
                <a:ea typeface="+mn-lt"/>
                <a:cs typeface="+mn-lt"/>
              </a:rPr>
              <a:t> - вопрос о цели поступков; раскрывает контекст события, более сложный уровень вопросов, требующих концептуальных ответов</a:t>
            </a:r>
            <a:endParaRPr lang="ru-RU"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74752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BCCA81-EAE7-A84A-C9ED-519A307B6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latin typeface="Times New Roman"/>
                <a:ea typeface="+mj-lt"/>
                <a:cs typeface="+mj-lt"/>
              </a:rPr>
              <a:t>Дополнительные вопросы </a:t>
            </a:r>
            <a:endParaRPr lang="ru-RU" sz="3600" b="1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385D2F-F1D7-B01C-D1E6-7340EB77E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Уточняющие: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необходимы, когда получен неясный или двусмысленный ответ - перефразировать, запросить пример, дополнительную информацию</a:t>
            </a:r>
            <a:endParaRPr lang="ru-RU" sz="1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Развивающие: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расширение поля беседы - детали, переживания героя, интерес к чувствам собеседника</a:t>
            </a:r>
            <a:endParaRPr lang="ru-RU" sz="1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Гипотетические: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лучше задавать экспертам, прогноз развития ситуации</a:t>
            </a:r>
            <a:endParaRPr lang="ru-RU" sz="1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Проективные: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изучение характера героя («что бы вы сделали, если…»)</a:t>
            </a:r>
            <a:endParaRPr lang="ru-RU" sz="1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Контрольные: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задаются, когда нет возможности перепроверить информацию</a:t>
            </a:r>
            <a:endParaRPr lang="ru-RU" sz="1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Уличающие: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применяются в случае явных противоречий в ответах</a:t>
            </a:r>
            <a:endParaRPr lang="ru-RU" sz="1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Количественные: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вопрос «сколько» вносит точность и ясность</a:t>
            </a:r>
            <a:endParaRPr lang="ru-RU" sz="180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Переходные: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нужны для изменения направления беседы, помогают, когда разговор заходит в тупик</a:t>
            </a:r>
            <a:endParaRPr lang="ru-RU" sz="1800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Пассивные и мимические: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молчаливые, «немые» - стимулируют продолжение разговора, дает время на раздумья</a:t>
            </a:r>
            <a:endParaRPr lang="ru-RU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98220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76EB1-A57A-89CD-A2A8-2FCBB9CF8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latin typeface="Times New Roman"/>
                <a:cs typeface="Times New Roman"/>
              </a:rPr>
              <a:t>Техника «воронки» в интервью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C31F4C-97DA-85DD-3039-2B906FC34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50876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Times New Roman"/>
                <a:ea typeface="+mn-lt"/>
                <a:cs typeface="+mn-lt"/>
              </a:rPr>
              <a:t>Это подход, при котором интервьюер постепенно переходит от общих вопросов к более конкретным и детальным. Это помогает вести интервью естественно, при этом получая всё более глубокую информацию. Сначала участник «вливается» в тему свободно и без давления, а потом интервьюер аккуратно направляет его к нужной информации</a:t>
            </a:r>
            <a:endParaRPr lang="ru-RU" dirty="0"/>
          </a:p>
          <a:p>
            <a:pPr marL="285750" indent="-285750"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Создаёт комфортную атмосферу для участника - человек чувствует, что его слушают, а не допрашивают</a:t>
            </a:r>
            <a:endParaRPr lang="ru-RU" dirty="0"/>
          </a:p>
          <a:p>
            <a:pPr marL="285750" indent="-285750"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Минимизирует когнитивные искажения, например, эффект наведения</a:t>
            </a:r>
            <a:endParaRPr lang="ru-RU" sz="1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Помогает не упустить важные детали, которые могут не прийти в голову при прямом вопросе</a:t>
            </a:r>
            <a:endParaRPr lang="ru-RU" sz="1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Структурирует интервью, что особенно важно при сравнении ответов разных участников</a:t>
            </a:r>
            <a:endParaRPr lang="ru-RU" sz="18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</a:pPr>
            <a:endParaRPr lang="ru-RU" sz="1800" dirty="0">
              <a:latin typeface="Times New Roman"/>
              <a:cs typeface="Times New Roman"/>
            </a:endParaRPr>
          </a:p>
        </p:txBody>
      </p:sp>
      <p:pic>
        <p:nvPicPr>
          <p:cNvPr id="4" name="Рисунок 3" descr="Изображение выглядит как текст, снимок экрана, Шрифт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FC240E-7D01-A651-A389-47171427E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447" y="1826173"/>
            <a:ext cx="4801915" cy="425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04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5FD6C1-1AFD-01EC-3778-4523C4E1C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latin typeface="Times New Roman"/>
                <a:cs typeface="Times New Roman"/>
              </a:rPr>
              <a:t>Ошибки при задавании вопросов или </a:t>
            </a:r>
            <a:br>
              <a:rPr lang="ru-RU" sz="3600" b="1" dirty="0">
                <a:latin typeface="Times New Roman"/>
                <a:ea typeface="+mj-lt"/>
                <a:cs typeface="Times New Roman"/>
              </a:rPr>
            </a:br>
            <a:r>
              <a:rPr lang="ru-RU" sz="3600" b="1" dirty="0">
                <a:latin typeface="Times New Roman"/>
                <a:ea typeface="+mj-lt"/>
                <a:cs typeface="+mj-lt"/>
              </a:rPr>
              <a:t>«плохие» вопросы</a:t>
            </a:r>
          </a:p>
          <a:p>
            <a:endParaRPr lang="ru-RU" sz="3600" b="1" dirty="0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B7E720-F905-4C0D-C915-70D529554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5282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Двойные вопросы («Вы довольны зарплатой и графиком?»)</a:t>
            </a:r>
            <a:endParaRPr lang="ru-RU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Наводящие формулировки</a:t>
            </a:r>
            <a:endParaRPr lang="ru-RU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Слишком сложные конструкции</a:t>
            </a:r>
            <a:endParaRPr lang="ru-RU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Вопросы, допускающие односложные ответы («да», «нет»)</a:t>
            </a: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Утверждение в вопросе/риторические вопросы   </a:t>
            </a: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Комментарии и собственные оценки в вопросе </a:t>
            </a: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Предположения и домыслы в вопросе </a:t>
            </a: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Навешивание ярлыков в вопросе </a:t>
            </a: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Преувеличение в вопросе </a:t>
            </a: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«Глупые» вопросы</a:t>
            </a:r>
            <a:endParaRPr lang="ru-RU" sz="1800" dirty="0">
              <a:latin typeface="Times New Roman"/>
              <a:cs typeface="Times New Roman"/>
            </a:endParaRPr>
          </a:p>
          <a:p>
            <a:endParaRPr lang="ru-RU" dirty="0"/>
          </a:p>
        </p:txBody>
      </p:sp>
      <p:pic>
        <p:nvPicPr>
          <p:cNvPr id="4" name="Рисунок 3" descr="Изображение выглядит как зарисовка, рисунок, иллюстрация, Штриховая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495350C-B2D9-D8CA-B8AA-121BE8EAB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835" y="2693275"/>
            <a:ext cx="4854465" cy="293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0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A2DB6-8CD4-4F85-A3A5-615F47BE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13375" cy="1351838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/>
                <a:ea typeface="+mj-lt"/>
                <a:cs typeface="+mj-lt"/>
              </a:rPr>
              <a:t>Психология интервью (невербальные компоненты) </a:t>
            </a:r>
            <a:endParaRPr lang="ru-RU" sz="3600" b="1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ECC577-FCBE-A0FA-D514-65827BDE7C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 Умение слушать:</a:t>
            </a:r>
            <a:endParaRPr lang="ru-RU" sz="1800" b="1" i="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Убедиться, что правильно поняли собеседника (уточняющие вопросы)</a:t>
            </a: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Ухватить главную мысль</a:t>
            </a: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Подавать сигналы собеседнику, что вы его слышите</a:t>
            </a: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Сконцентрироваться на содержании, а не на записи</a:t>
            </a: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ea typeface="+mn-lt"/>
                <a:cs typeface="+mn-lt"/>
              </a:rPr>
              <a:t>Научиться «правильно перебивать»: улавливать подходящие моменты, паузы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25AD99-F947-AAC0-288C-88CFAE7A7D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b="1" i="1" dirty="0">
                <a:latin typeface="Times New Roman"/>
                <a:cs typeface="Times New Roman"/>
              </a:rPr>
              <a:t> Невербальный контакт: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cs typeface="Times New Roman"/>
              </a:rPr>
              <a:t>Внешность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cs typeface="Times New Roman"/>
              </a:rPr>
              <a:t>Функциональные признаки (мимика, жесты, походка, осанка, голос)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cs typeface="Times New Roman"/>
              </a:rPr>
              <a:t>Одежда и макияж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ru-RU" sz="1800" dirty="0">
                <a:latin typeface="Times New Roman"/>
                <a:cs typeface="Times New Roman"/>
              </a:rPr>
              <a:t>Территория и пространственные условия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8688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A51133-8A6F-CBD2-1BBA-B4A5D7F3E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600" b="1" dirty="0">
                <a:latin typeface="Times New Roman"/>
                <a:ea typeface="+mj-lt"/>
                <a:cs typeface="+mj-lt"/>
              </a:rPr>
              <a:t>Умение слушать</a:t>
            </a:r>
            <a:endParaRPr lang="ru-RU" sz="3600" b="1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761406-1382-BA10-DB50-04095C2E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025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Внимание: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уважайте говорящего, установите в начале беседы контакт, убедите в собственной искренности; смотрите на собеседника; не торопитесь с выводами</a:t>
            </a:r>
            <a:endParaRPr lang="ru-RU" sz="1800" dirty="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Дружелюбие: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не спешите возражать; не демонстрируйте неуважение; делайте паузы</a:t>
            </a:r>
            <a:endParaRPr lang="ru-RU" sz="1800" dirty="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ru-RU" sz="1800" b="1" i="1" dirty="0">
                <a:latin typeface="Times New Roman"/>
                <a:ea typeface="+mn-lt"/>
                <a:cs typeface="+mn-lt"/>
              </a:rPr>
              <a:t>Активность:</a:t>
            </a:r>
            <a:r>
              <a:rPr lang="ru-RU" sz="1800" dirty="0">
                <a:latin typeface="Times New Roman"/>
                <a:ea typeface="+mn-lt"/>
                <a:cs typeface="+mn-lt"/>
              </a:rPr>
              <a:t> подавайте сигналы, что вы понимаете, о чем речь; будьте раскованны; не показывайте усталости и досады</a:t>
            </a:r>
            <a:endParaRPr lang="ru-RU" sz="18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1FE16-A1E3-F5A4-9354-97EE2EC48BD6}"/>
              </a:ext>
            </a:extLst>
          </p:cNvPr>
          <p:cNvSpPr txBox="1"/>
          <p:nvPr/>
        </p:nvSpPr>
        <p:spPr>
          <a:xfrm>
            <a:off x="840827" y="3626068"/>
            <a:ext cx="105077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ru-RU" sz="3600" b="1" dirty="0">
                <a:latin typeface="Times New Roman"/>
                <a:cs typeface="Times New Roman"/>
              </a:rPr>
              <a:t>Что мешает слушать</a:t>
            </a:r>
            <a:endParaRPr lang="ru-RU"/>
          </a:p>
        </p:txBody>
      </p:sp>
      <p:pic>
        <p:nvPicPr>
          <p:cNvPr id="7" name="Рисунок 6" descr="Изображение выглядит как рисунок, иллюстрация, графическая вставк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89D682C-4725-D873-30B7-96DB6BB4F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620" y="45983"/>
            <a:ext cx="2969173" cy="16685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4E4F8C-3030-E790-91E0-2B2C0DDCC248}"/>
              </a:ext>
            </a:extLst>
          </p:cNvPr>
          <p:cNvSpPr txBox="1"/>
          <p:nvPr/>
        </p:nvSpPr>
        <p:spPr>
          <a:xfrm>
            <a:off x="840827" y="4657396"/>
            <a:ext cx="1024495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Обремененность собственными проблемами, отвлечение на собственные мысли</a:t>
            </a:r>
            <a:endParaRPr lang="ru-RU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Торопливость, поспешность суждений о смысле сказанного («все ясно»)</a:t>
            </a:r>
            <a:endParaRPr lang="ru-RU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Критичность, негативность восприятия и мышления</a:t>
            </a:r>
            <a:endParaRPr lang="ru-RU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Предубеждение против говорящего («некомпетентный», «что он может сказать»)</a:t>
            </a:r>
            <a:endParaRPr lang="ru-RU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Мысли плохого слушателя заняты обдумыванием своих реплик, вопросов и замечаний, а не слушанием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9" name="Рисунок 8" descr="Изображение выглядит как Человеческое лицо, человек, одежда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EE211FE-5D93-EE61-3964-3B89CD4CF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742" y="3234656"/>
            <a:ext cx="2673570" cy="142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82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ADDD9-C910-494A-CC3A-61A3B5555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104460" cy="1343422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/>
                <a:cs typeface="Times New Roman"/>
              </a:rPr>
              <a:t>Внешний вид влияет на восприятие человека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5CA64F-6E7E-6165-3D43-2F789CF55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04460" cy="25594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1800" b="1" i="1" dirty="0">
                <a:latin typeface="Times New Roman"/>
                <a:cs typeface="Times New Roman"/>
              </a:rPr>
              <a:t>Одежда</a:t>
            </a:r>
            <a:r>
              <a:rPr lang="ru-RU" sz="1800" dirty="0">
                <a:latin typeface="Times New Roman"/>
                <a:cs typeface="Times New Roman"/>
              </a:rPr>
              <a:t> - создаёт образ статусности, компетентности или креативности. Например, строгий стиль для деловой встречи, яркие детали для творческой сферы</a:t>
            </a:r>
          </a:p>
          <a:p>
            <a:r>
              <a:rPr lang="ru-RU" sz="1800" b="1" i="1" dirty="0">
                <a:latin typeface="Times New Roman"/>
                <a:cs typeface="Times New Roman"/>
              </a:rPr>
              <a:t>Цвет одежды</a:t>
            </a:r>
            <a:r>
              <a:rPr lang="ru-RU" sz="1800" dirty="0">
                <a:latin typeface="Times New Roman"/>
                <a:cs typeface="Times New Roman"/>
              </a:rPr>
              <a:t> - может влиять на впечатление, например, чёрный цвет считается официальным и строгим</a:t>
            </a:r>
          </a:p>
          <a:p>
            <a:r>
              <a:rPr lang="ru-RU" sz="1800" b="1" i="1" dirty="0">
                <a:latin typeface="Times New Roman"/>
                <a:cs typeface="Times New Roman"/>
              </a:rPr>
              <a:t>Аксессуары</a:t>
            </a:r>
            <a:r>
              <a:rPr lang="ru-RU" sz="1800" dirty="0">
                <a:latin typeface="Times New Roman"/>
                <a:cs typeface="Times New Roman"/>
              </a:rPr>
              <a:t> - например, очки придают солидное впечатление, часы и обувь показывают богатство и чувство стиля </a:t>
            </a:r>
          </a:p>
          <a:p>
            <a:endParaRPr lang="ru-RU" sz="1800" dirty="0">
              <a:latin typeface="Times New Roman"/>
              <a:cs typeface="Times New Roman"/>
            </a:endParaRPr>
          </a:p>
        </p:txBody>
      </p:sp>
      <p:pic>
        <p:nvPicPr>
          <p:cNvPr id="5" name="Рисунок 4" descr="Изображение выглядит как мультфильм, мебель, стул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6A201B-65CD-A66E-B073-785BDC06C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470" y="363141"/>
            <a:ext cx="3923110" cy="2613422"/>
          </a:xfrm>
          <a:prstGeom prst="rect">
            <a:avLst/>
          </a:prstGeom>
        </p:spPr>
      </p:pic>
      <p:pic>
        <p:nvPicPr>
          <p:cNvPr id="6" name="Рисунок 5" descr="Изображение выглядит как одежда, обувь, мебель, челов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4A1737-CD09-DFCE-713D-96F1F9036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861" y="2976563"/>
            <a:ext cx="2950368" cy="351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38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DD0AB2-E011-0D1C-92E7-18AAEA9E8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5465413" cy="808398"/>
          </a:xfrm>
        </p:spPr>
        <p:txBody>
          <a:bodyPr anchor="b">
            <a:normAutofit fontScale="90000"/>
          </a:bodyPr>
          <a:lstStyle/>
          <a:p>
            <a:r>
              <a:rPr lang="ru-RU" b="1" dirty="0">
                <a:latin typeface="Times New Roman"/>
                <a:ea typeface="+mj-lt"/>
                <a:cs typeface="+mj-lt"/>
              </a:rPr>
              <a:t>Правильная рассадка</a:t>
            </a:r>
            <a:endParaRPr lang="ru-RU" b="1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F39EB9-33FE-B640-3DF7-55429ECC7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665479"/>
            <a:ext cx="4959603" cy="35225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1800" dirty="0">
                <a:latin typeface="Times New Roman"/>
                <a:ea typeface="+mn-lt"/>
                <a:cs typeface="Times New Roman"/>
              </a:rPr>
              <a:t>Перекрестная - угол стола разделяет людей, однако хороший визуальный контакт, не надо делить территорию стола</a:t>
            </a:r>
          </a:p>
          <a:p>
            <a:r>
              <a:rPr lang="ru-RU" sz="1800" dirty="0">
                <a:latin typeface="Times New Roman"/>
                <a:ea typeface="+mn-lt"/>
                <a:cs typeface="+mn-lt"/>
              </a:rPr>
              <a:t>Оппозиционная - удобно отстаивать свою позицию</a:t>
            </a:r>
            <a:endParaRPr lang="ru-RU" sz="1800">
              <a:latin typeface="Times New Roman"/>
              <a:ea typeface="+mn-lt"/>
              <a:cs typeface="Times New Roman"/>
            </a:endParaRPr>
          </a:p>
          <a:p>
            <a:r>
              <a:rPr lang="ru-RU" sz="1800" dirty="0">
                <a:latin typeface="Times New Roman"/>
                <a:ea typeface="+mn-lt"/>
                <a:cs typeface="+mn-lt"/>
              </a:rPr>
              <a:t>Рядом - собеседники выступают общим фронтом, объединяют взгляды</a:t>
            </a:r>
          </a:p>
          <a:p>
            <a:r>
              <a:rPr lang="ru-RU" sz="1800" i="1" dirty="0">
                <a:latin typeface="Times New Roman"/>
                <a:cs typeface="Times New Roman"/>
              </a:rPr>
              <a:t>За круглым столом</a:t>
            </a:r>
            <a:r>
              <a:rPr lang="ru-RU" sz="1800" dirty="0">
                <a:latin typeface="Times New Roman"/>
                <a:cs typeface="Times New Roman"/>
              </a:rPr>
              <a:t> - подчеркнут равный статус (для дискуссий, совещаний, круглых столов)</a:t>
            </a:r>
          </a:p>
          <a:p>
            <a:endParaRPr lang="ru-RU" sz="1800" dirty="0">
              <a:latin typeface="Times New Roman"/>
              <a:cs typeface="Times New Roman"/>
            </a:endParaRPr>
          </a:p>
        </p:txBody>
      </p:sp>
      <p:pic>
        <p:nvPicPr>
          <p:cNvPr id="4" name="Рисунок 3" descr="Изображение выглядит как текст, диаграмм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A0B868-2EFB-BC03-BA2A-8C09F0BCB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442" y="1089702"/>
            <a:ext cx="5201023" cy="426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3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F669EF-EF0B-CF20-5CF8-3D6F1BFD9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dirty="0">
                <a:latin typeface="Times New Roman"/>
                <a:cs typeface="Times New Roman"/>
              </a:rPr>
              <a:t>Итоги и рекомендации</a:t>
            </a:r>
          </a:p>
          <a:p>
            <a:endParaRPr lang="ru-RU" sz="3600" b="1" dirty="0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5DA739-0F48-43A4-795F-990319CAF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Times New Roman"/>
                <a:ea typeface="+mn-lt"/>
                <a:cs typeface="+mn-lt"/>
              </a:rPr>
              <a:t>Вопросы - инструмент максимальной отдачи информации. Баланс открытых и закрытых вопросов - ключ успеха. Избегайте перегрузки цифрами, домыслами, </a:t>
            </a:r>
            <a:r>
              <a:rPr lang="ru-RU" sz="1800" dirty="0">
                <a:latin typeface="Times New Roman"/>
                <a:ea typeface="+mn-lt"/>
                <a:cs typeface="Times New Roman"/>
              </a:rPr>
              <a:t>слишком сложными конструкциями</a:t>
            </a:r>
            <a:endParaRPr lang="ru-RU" sz="1800">
              <a:latin typeface="Times New Roman"/>
              <a:cs typeface="Times New Roman"/>
            </a:endParaRPr>
          </a:p>
          <a:p>
            <a:r>
              <a:rPr lang="ru-RU" sz="1800" dirty="0">
                <a:latin typeface="Times New Roman"/>
                <a:cs typeface="Times New Roman"/>
              </a:rPr>
              <a:t>комбинируйте типы вопросов</a:t>
            </a:r>
          </a:p>
          <a:p>
            <a:r>
              <a:rPr lang="ru-RU" sz="1800" dirty="0">
                <a:latin typeface="Times New Roman"/>
                <a:cs typeface="Times New Roman"/>
              </a:rPr>
              <a:t>следите за реакцией собеседника</a:t>
            </a:r>
          </a:p>
          <a:p>
            <a:r>
              <a:rPr lang="ru-RU" sz="1800" dirty="0">
                <a:latin typeface="Times New Roman"/>
                <a:cs typeface="Times New Roman"/>
              </a:rPr>
              <a:t>избегайте давления</a:t>
            </a:r>
          </a:p>
          <a:p>
            <a:r>
              <a:rPr lang="ru-RU" sz="1800" dirty="0">
                <a:latin typeface="Times New Roman"/>
                <a:ea typeface="+mn-lt"/>
                <a:cs typeface="+mn-lt"/>
              </a:rPr>
              <a:t>не старайтесь казаться умнее собеседника</a:t>
            </a:r>
            <a:endParaRPr lang="ru-RU" sz="1800" dirty="0">
              <a:latin typeface="Times New Roman"/>
              <a:cs typeface="Times New Roman"/>
            </a:endParaRPr>
          </a:p>
          <a:p>
            <a:r>
              <a:rPr lang="ru-RU" sz="1800" dirty="0">
                <a:latin typeface="Times New Roman"/>
                <a:ea typeface="+mn-lt"/>
                <a:cs typeface="+mn-lt"/>
              </a:rPr>
              <a:t>не перебивайте, дайте высказаться</a:t>
            </a:r>
            <a:endParaRPr lang="ru-RU" sz="1800" dirty="0">
              <a:latin typeface="Times New Roman"/>
              <a:cs typeface="Times New Roman"/>
            </a:endParaRPr>
          </a:p>
          <a:p>
            <a:endParaRPr lang="ru-RU" sz="1800" dirty="0">
              <a:latin typeface="Times New Roman"/>
              <a:cs typeface="Times New Roman"/>
            </a:endParaRPr>
          </a:p>
        </p:txBody>
      </p:sp>
      <p:pic>
        <p:nvPicPr>
          <p:cNvPr id="6" name="Рисунок 5" descr="Изображение выглядит как одежда, графическая вставка, Человеческое лицо, аним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7A60494-0073-186A-83DF-509AC58F2B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227"/>
          <a:stretch>
            <a:fillRect/>
          </a:stretch>
        </p:blipFill>
        <p:spPr>
          <a:xfrm>
            <a:off x="5662449" y="2496206"/>
            <a:ext cx="4795345" cy="400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26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Office Theme</vt:lpstr>
      <vt:lpstr>Презентация PowerPoint</vt:lpstr>
      <vt:lpstr>Актуальность темы</vt:lpstr>
      <vt:lpstr>Виды интервью</vt:lpstr>
      <vt:lpstr>Виды вопросов в интервью</vt:lpstr>
      <vt:lpstr>Виды вопросов в интервью</vt:lpstr>
      <vt:lpstr>Основные вопросы: о чем спрашивать?</vt:lpstr>
      <vt:lpstr>Дополнительные вопросы </vt:lpstr>
      <vt:lpstr>Техника «воронки» в интервью</vt:lpstr>
      <vt:lpstr>Ошибки при задавании вопросов или  «плохие» вопросы </vt:lpstr>
      <vt:lpstr>Психология интервью (невербальные компоненты) </vt:lpstr>
      <vt:lpstr>Умение слушать</vt:lpstr>
      <vt:lpstr>Внешний вид влияет на восприятие человека</vt:lpstr>
      <vt:lpstr>Правильная рассадка</vt:lpstr>
      <vt:lpstr>Итоги и рекомендации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634</cp:revision>
  <dcterms:created xsi:type="dcterms:W3CDTF">2025-12-21T20:08:57Z</dcterms:created>
  <dcterms:modified xsi:type="dcterms:W3CDTF">2025-12-21T23:51:44Z</dcterms:modified>
</cp:coreProperties>
</file>